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Funnel Sans"/>
      <p:regular r:id="rId15"/>
      <p:bold r:id="rId16"/>
      <p:italic r:id="rId17"/>
      <p:boldItalic r:id="rId18"/>
    </p:embeddedFont>
    <p:embeddedFont>
      <p:font typeface="Mona Sans"/>
      <p:regular r:id="rId19"/>
      <p:bold r:id="rId20"/>
      <p:italic r:id="rId21"/>
      <p:boldItalic r:id="rId22"/>
    </p:embeddedFont>
    <p:embeddedFont>
      <p:font typeface="Mona Sa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aSans-bold.fntdata"/><Relationship Id="rId22" Type="http://schemas.openxmlformats.org/officeDocument/2006/relationships/font" Target="fonts/MonaSans-boldItalic.fntdata"/><Relationship Id="rId21" Type="http://schemas.openxmlformats.org/officeDocument/2006/relationships/font" Target="fonts/MonaSans-italic.fntdata"/><Relationship Id="rId24" Type="http://schemas.openxmlformats.org/officeDocument/2006/relationships/font" Target="fonts/MonaSansSemiBold-bold.fntdata"/><Relationship Id="rId23" Type="http://schemas.openxmlformats.org/officeDocument/2006/relationships/font" Target="fonts/MonaSans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aSansSemiBold-boldItalic.fntdata"/><Relationship Id="rId25" Type="http://schemas.openxmlformats.org/officeDocument/2006/relationships/font" Target="fonts/MonaSans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FunnelSans-regular.fntdata"/><Relationship Id="rId14" Type="http://schemas.openxmlformats.org/officeDocument/2006/relationships/slide" Target="slides/slide10.xml"/><Relationship Id="rId17" Type="http://schemas.openxmlformats.org/officeDocument/2006/relationships/font" Target="fonts/FunnelSans-italic.fntdata"/><Relationship Id="rId16" Type="http://schemas.openxmlformats.org/officeDocument/2006/relationships/font" Target="fonts/FunnelSans-bold.fntdata"/><Relationship Id="rId19" Type="http://schemas.openxmlformats.org/officeDocument/2006/relationships/font" Target="fonts/MonaSans-regular.fntdata"/><Relationship Id="rId18" Type="http://schemas.openxmlformats.org/officeDocument/2006/relationships/font" Target="fonts/Funnel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318635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Talking Rabbitt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3985855"/>
            <a:ext cx="502848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Conversational Business Intelligence</a:t>
            </a:r>
            <a:endParaRPr b="0" i="0" sz="22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468034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Ask questions. Get instant insights. Make faster decisions.</a:t>
            </a:r>
            <a:endParaRPr b="0" i="0" sz="175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12871200" y="7759750"/>
            <a:ext cx="1651500" cy="363000"/>
          </a:xfrm>
          <a:prstGeom prst="rect">
            <a:avLst/>
          </a:prstGeom>
          <a:solidFill>
            <a:srgbClr val="FEFEFE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732115" y="695444"/>
            <a:ext cx="5229939" cy="653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100"/>
              <a:buFont typeface="Mona Sans"/>
              <a:buNone/>
            </a:pPr>
            <a:r>
              <a:rPr b="0" i="0" lang="en-US" sz="41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The Problem</a:t>
            </a:r>
            <a:endParaRPr b="0" i="0" sz="41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32115" y="1638538"/>
            <a:ext cx="7679769" cy="64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Traditional business intelligence tools create barriers to decision-making for executives who need quick answers.</a:t>
            </a:r>
            <a:endParaRPr b="0" i="0" sz="16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732115" y="2498765"/>
            <a:ext cx="7679769" cy="1549837"/>
          </a:xfrm>
          <a:prstGeom prst="roundRect">
            <a:avLst>
              <a:gd fmla="val 708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709255" y="2498765"/>
            <a:ext cx="91440" cy="1549837"/>
          </a:xfrm>
          <a:prstGeom prst="roundRect">
            <a:avLst>
              <a:gd fmla="val 96090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032748" y="2730818"/>
            <a:ext cx="2755702" cy="326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50"/>
              <a:buFont typeface="Mona Sans"/>
              <a:buNone/>
            </a:pPr>
            <a:r>
              <a:rPr b="0" i="0" lang="en-US" sz="205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Complex Dashboards</a:t>
            </a:r>
            <a:endParaRPr b="0" i="0" sz="205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1032748" y="3173373"/>
            <a:ext cx="7147084" cy="64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Pre-built dashboards overwhelm rather than enlighten, requiring extensive training to navigate effectively.</a:t>
            </a:r>
            <a:endParaRPr b="0" i="0" sz="16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32115" y="4241483"/>
            <a:ext cx="7679769" cy="1549837"/>
          </a:xfrm>
          <a:prstGeom prst="roundRect">
            <a:avLst>
              <a:gd fmla="val 708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709255" y="4241483"/>
            <a:ext cx="91440" cy="1549837"/>
          </a:xfrm>
          <a:prstGeom prst="roundRect">
            <a:avLst>
              <a:gd fmla="val 96090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032748" y="4473535"/>
            <a:ext cx="2614970" cy="326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50"/>
              <a:buFont typeface="Mona Sans"/>
              <a:buNone/>
            </a:pPr>
            <a:r>
              <a:rPr b="0" i="0" lang="en-US" sz="205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Technical Barriers</a:t>
            </a:r>
            <a:endParaRPr b="0" i="0" sz="20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1032748" y="4916091"/>
            <a:ext cx="7147084" cy="64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SQL knowledge and analyst assistance slow down ad-hoc questions and spontaneous data exploration.</a:t>
            </a:r>
            <a:endParaRPr b="0" i="0" sz="16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32115" y="5984200"/>
            <a:ext cx="7679769" cy="1549837"/>
          </a:xfrm>
          <a:prstGeom prst="roundRect">
            <a:avLst>
              <a:gd fmla="val 708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709255" y="5984200"/>
            <a:ext cx="91440" cy="1549837"/>
          </a:xfrm>
          <a:prstGeom prst="roundRect">
            <a:avLst>
              <a:gd fmla="val 96090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1032748" y="6216253"/>
            <a:ext cx="2614970" cy="326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50"/>
              <a:buFont typeface="Mona Sans"/>
              <a:buNone/>
            </a:pPr>
            <a:r>
              <a:rPr b="0" i="0" lang="en-US" sz="205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Slow Insights</a:t>
            </a:r>
            <a:endParaRPr b="0" i="0" sz="205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1032748" y="6658808"/>
            <a:ext cx="7147084" cy="64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Manual filtering and report generation delay critical decisions that could impact business performance.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793790" y="161163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Market Landscape</a:t>
            </a:r>
            <a:endParaRPr b="0" i="0" sz="44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793790" y="2864644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global Business Intelligence market is dominated by powerful visualization tools that require significant expertise to master.</a:t>
            </a:r>
            <a:endParaRPr b="0" i="0" sz="17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793790" y="3794522"/>
            <a:ext cx="8284131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Microsoft Power BI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Tableau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ThoughtSpot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Sigma Computing</a:t>
            </a:r>
            <a:endParaRPr b="0" i="0" sz="17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93790" y="5688092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These platforms excel at dashboard creation but focus heavily on manual data exploration and visualization design.</a:t>
            </a:r>
            <a:endParaRPr b="0" i="0" sz="17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9475589" y="2660571"/>
            <a:ext cx="4531876" cy="3957399"/>
          </a:xfrm>
          <a:prstGeom prst="roundRect">
            <a:avLst>
              <a:gd fmla="val 4127" name="adj"/>
            </a:avLst>
          </a:prstGeom>
          <a:solidFill>
            <a:srgbClr val="373B4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9702403" y="288738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The Gap</a:t>
            </a:r>
            <a:endParaRPr b="0" i="0" sz="220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9702403" y="3468529"/>
            <a:ext cx="4078248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Executives want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faster, simpler ways</a:t>
            </a: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 to access insights without learning complex tools or waiting for analyst support.</a:t>
            </a:r>
            <a:endParaRPr b="0" i="0" sz="17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12871200" y="7759750"/>
            <a:ext cx="1651500" cy="363000"/>
          </a:xfrm>
          <a:prstGeom prst="rect">
            <a:avLst/>
          </a:prstGeom>
          <a:solidFill>
            <a:srgbClr val="FEFEFE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793790" y="2027753"/>
            <a:ext cx="656617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Competitive Positioning</a:t>
            </a:r>
            <a:endParaRPr b="0" i="0" sz="445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793790" y="3190161"/>
            <a:ext cx="4196358" cy="3011686"/>
          </a:xfrm>
          <a:prstGeom prst="roundRect">
            <a:avLst>
              <a:gd fmla="val 3163" name="adj"/>
            </a:avLst>
          </a:prstGeom>
          <a:solidFill>
            <a:srgbClr val="707891"/>
          </a:solidFill>
          <a:ln cap="flat" cmpd="sng" w="9525">
            <a:solidFill>
              <a:srgbClr val="8991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028224" y="34245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Power BI &amp; Tableau</a:t>
            </a:r>
            <a:endParaRPr b="0" i="0" sz="220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1028224" y="3915013"/>
            <a:ext cx="3727490" cy="205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Powerful visualization engines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Complex setup and configuration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Requires dedicated analysts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Dashboard-first approach</a:t>
            </a:r>
            <a:endParaRPr b="0" i="0" sz="175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5216962" y="3190161"/>
            <a:ext cx="4196358" cy="3011686"/>
          </a:xfrm>
          <a:prstGeom prst="roundRect">
            <a:avLst>
              <a:gd fmla="val 3163" name="adj"/>
            </a:avLst>
          </a:prstGeom>
          <a:solidFill>
            <a:srgbClr val="5C6378"/>
          </a:solidFill>
          <a:ln cap="flat" cmpd="sng" w="9525">
            <a:solidFill>
              <a:srgbClr val="757C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451396" y="34245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ThoughtSpot</a:t>
            </a:r>
            <a:endParaRPr b="0" i="0" sz="220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5451396" y="3915013"/>
            <a:ext cx="3727490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Search-based analytics interface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Improved query experience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Still requires structured thinking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Limited conversational flow</a:t>
            </a:r>
            <a:endParaRPr b="0" i="0" sz="17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9640133" y="3190161"/>
            <a:ext cx="4196358" cy="3011686"/>
          </a:xfrm>
          <a:prstGeom prst="roundRect">
            <a:avLst>
              <a:gd fmla="val 3163" name="adj"/>
            </a:avLst>
          </a:prstGeom>
          <a:solidFill>
            <a:srgbClr val="373B48"/>
          </a:solidFill>
          <a:ln cap="flat" cmpd="sng" w="9525">
            <a:solidFill>
              <a:srgbClr val="505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9874568" y="34245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Talking Rabbitt</a:t>
            </a:r>
            <a:endParaRPr b="0" i="0" sz="220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9874568" y="3915013"/>
            <a:ext cx="3727490" cy="205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Fully conversational analytics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Instant natural language answers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Designed specifically for executives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Self-service insights</a:t>
            </a:r>
            <a:endParaRPr b="0" i="0" sz="175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12871200" y="7759750"/>
            <a:ext cx="1651500" cy="363000"/>
          </a:xfrm>
          <a:prstGeom prst="rect">
            <a:avLst/>
          </a:prstGeom>
          <a:solidFill>
            <a:srgbClr val="FEFEFE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793790" y="191476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Product Positioning</a:t>
            </a:r>
            <a:endParaRPr b="0" i="0" sz="445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793790" y="2714268"/>
            <a:ext cx="4519136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650"/>
              <a:buFont typeface="Mona Sans"/>
              <a:buNone/>
            </a:pPr>
            <a:r>
              <a:rPr b="0" i="0" lang="en-US" sz="26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ChatGPT for Business Data</a:t>
            </a:r>
            <a:endParaRPr b="0" i="0" sz="265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793790" y="3479721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Upload your data or connect your data source. Ask questions in natural language and receive instant insights with automated visualizations.</a:t>
            </a:r>
            <a:endParaRPr b="0" i="0" sz="175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1133951" y="4715828"/>
            <a:ext cx="72162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"Which region generated the highest revenue last quarter?"</a:t>
            </a:r>
            <a:endParaRPr b="0" i="0" sz="175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793790" y="4460677"/>
            <a:ext cx="30480" cy="873204"/>
          </a:xfrm>
          <a:prstGeom prst="rect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793790" y="558903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system instantly returns a clear explanation, relevant charts, and key insights—no dashboard navigation required.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793790" y="830461"/>
            <a:ext cx="60576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Ideal Customer Profile</a:t>
            </a:r>
            <a:endParaRPr b="0" i="0" sz="4450" u="none" cap="none" strike="noStrike"/>
          </a:p>
        </p:txBody>
      </p:sp>
      <p:pic>
        <p:nvPicPr>
          <p:cNvPr descr="preencoded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87940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1644253" y="18794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Company Size</a:t>
            </a:r>
            <a:endParaRPr b="0" i="0" sz="2200" u="none" cap="none" strike="noStrike"/>
          </a:p>
        </p:txBody>
      </p:sp>
      <p:sp>
        <p:nvSpPr>
          <p:cNvPr id="131" name="Google Shape;131;p18"/>
          <p:cNvSpPr/>
          <p:nvPr/>
        </p:nvSpPr>
        <p:spPr>
          <a:xfrm>
            <a:off x="1644253" y="2369820"/>
            <a:ext cx="670595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Mid-sized organizations with 200–2,000 employees that have business data but limited dedicated analytics teams.</a:t>
            </a:r>
            <a:endParaRPr b="0" i="0" sz="1750" u="none" cap="none" strike="noStrike"/>
          </a:p>
        </p:txBody>
      </p:sp>
      <p:pic>
        <p:nvPicPr>
          <p:cNvPr descr="preencoded.png" id="132" name="Google Shape;1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54925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1644253" y="35492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Target Industries</a:t>
            </a:r>
            <a:endParaRPr b="0" i="0" sz="220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1644253" y="4039672"/>
            <a:ext cx="6705957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Hospitality &amp; Hotels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Retail &amp; E-commerce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SaaS &amp; Technology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Operations-heavy sectors</a:t>
            </a:r>
            <a:endParaRPr b="0" i="0" sz="1750" u="none" cap="none" strike="noStrike"/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618279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1644253" y="61827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Core Need</a:t>
            </a:r>
            <a:endParaRPr b="0" i="0" sz="220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1644253" y="6673215"/>
            <a:ext cx="670595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Fast, accessible insights without investing in complex BI infrastructure or hiring additional analysts.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793790" y="63055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Buyer Persona</a:t>
            </a:r>
            <a:endParaRPr b="0" i="0" sz="4450" u="none" cap="none" strike="noStrike"/>
          </a:p>
        </p:txBody>
      </p:sp>
      <p:sp>
        <p:nvSpPr>
          <p:cNvPr id="144" name="Google Shape;144;p19"/>
          <p:cNvSpPr/>
          <p:nvPr/>
        </p:nvSpPr>
        <p:spPr>
          <a:xfrm>
            <a:off x="793790" y="1906310"/>
            <a:ext cx="380750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650"/>
              <a:buFont typeface="Mona Sans"/>
              <a:buNone/>
            </a:pPr>
            <a:r>
              <a:rPr b="0" i="0" lang="en-US" sz="26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Chief Operating Officer</a:t>
            </a:r>
            <a:endParaRPr b="0" i="0" sz="265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793790" y="2558415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Primary Buyer: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Operations leadership focused on efficiency and performance monitoring</a:t>
            </a:r>
            <a:endParaRPr b="0" i="0" sz="175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793790" y="35110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Key Goals</a:t>
            </a:r>
            <a:endParaRPr b="0" i="0" sz="2200" u="none" cap="none" strike="noStrike"/>
          </a:p>
        </p:txBody>
      </p:sp>
      <p:sp>
        <p:nvSpPr>
          <p:cNvPr id="147" name="Google Shape;147;p19"/>
          <p:cNvSpPr/>
          <p:nvPr/>
        </p:nvSpPr>
        <p:spPr>
          <a:xfrm>
            <a:off x="793790" y="4092178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Monitor business performance in real-time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Identify trends and anomalies quickly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Improve operational efficiency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Reduce dependency on analysts</a:t>
            </a:r>
            <a:endParaRPr b="0" i="0" sz="1750" u="none" cap="none" strike="noStrike"/>
          </a:p>
        </p:txBody>
      </p:sp>
      <p:sp>
        <p:nvSpPr>
          <p:cNvPr id="148" name="Google Shape;148;p19"/>
          <p:cNvSpPr/>
          <p:nvPr/>
        </p:nvSpPr>
        <p:spPr>
          <a:xfrm>
            <a:off x="7599521" y="19063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Common Objections</a:t>
            </a:r>
            <a:endParaRPr b="0" i="0" sz="220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7599521" y="2636282"/>
            <a:ext cx="113348" cy="113348"/>
          </a:xfrm>
          <a:prstGeom prst="roundRect">
            <a:avLst>
              <a:gd fmla="val 403360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7939683" y="251579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Data Security</a:t>
            </a:r>
            <a:endParaRPr b="0" i="0" sz="2200" u="none" cap="none" strike="noStrike"/>
          </a:p>
        </p:txBody>
      </p:sp>
      <p:sp>
        <p:nvSpPr>
          <p:cNvPr id="151" name="Google Shape;151;p19"/>
          <p:cNvSpPr/>
          <p:nvPr/>
        </p:nvSpPr>
        <p:spPr>
          <a:xfrm>
            <a:off x="7939683" y="3096935"/>
            <a:ext cx="590454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Enterprise-grade encryption and secure integrations address compliance requirements.</a:t>
            </a:r>
            <a:endParaRPr b="0" i="0" sz="175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7599521" y="4396859"/>
            <a:ext cx="113348" cy="113348"/>
          </a:xfrm>
          <a:prstGeom prst="roundRect">
            <a:avLst>
              <a:gd fmla="val 403360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7939683" y="42763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Data Accuracy</a:t>
            </a:r>
            <a:endParaRPr b="0" i="0" sz="220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7939683" y="4857512"/>
            <a:ext cx="590454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Transparent analytics engine shows data sources and calculation methods clearly.</a:t>
            </a:r>
            <a:endParaRPr b="0" i="0" sz="175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7599521" y="6157436"/>
            <a:ext cx="113348" cy="113348"/>
          </a:xfrm>
          <a:prstGeom prst="roundRect">
            <a:avLst>
              <a:gd fmla="val 403360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7939683" y="6036945"/>
            <a:ext cx="28977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Implementation Cost</a:t>
            </a:r>
            <a:endParaRPr b="0" i="0" sz="220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7939683" y="6618089"/>
            <a:ext cx="590454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Quick setup with existing data sources, minimal training required for immediate value.</a:t>
            </a:r>
            <a:endParaRPr b="0" i="0" sz="175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12871200" y="7759750"/>
            <a:ext cx="1651500" cy="363000"/>
          </a:xfrm>
          <a:prstGeom prst="rect">
            <a:avLst/>
          </a:prstGeom>
          <a:solidFill>
            <a:srgbClr val="FEFEFE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/>
          <p:nvPr/>
        </p:nvSpPr>
        <p:spPr>
          <a:xfrm>
            <a:off x="614124" y="721757"/>
            <a:ext cx="5037296" cy="54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450"/>
              <a:buFont typeface="Mona Sans"/>
              <a:buNone/>
            </a:pPr>
            <a:r>
              <a:rPr b="0" i="0" lang="en-US" sz="3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Competitive Advantage</a:t>
            </a:r>
            <a:endParaRPr b="0" i="0" sz="3450" u="none" cap="none" strike="noStrike"/>
          </a:p>
        </p:txBody>
      </p:sp>
      <p:sp>
        <p:nvSpPr>
          <p:cNvPr id="166" name="Google Shape;166;p20"/>
          <p:cNvSpPr/>
          <p:nvPr/>
        </p:nvSpPr>
        <p:spPr>
          <a:xfrm>
            <a:off x="614124" y="1473756"/>
            <a:ext cx="7915751" cy="24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50"/>
              <a:buFont typeface="Funnel Sans"/>
              <a:buNone/>
            </a:pP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Talking Rabbitt wins by solving the core frustrations executives face with traditional BI tools.</a:t>
            </a:r>
            <a:endParaRPr b="0" i="0" sz="1350" u="none" cap="none" strike="noStrike"/>
          </a:p>
        </p:txBody>
      </p:sp>
      <p:pic>
        <p:nvPicPr>
          <p:cNvPr descr="preencoded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124" y="1875353"/>
            <a:ext cx="877372" cy="10528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1627227" y="2050733"/>
            <a:ext cx="2193488" cy="274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Dashboard Fatigue</a:t>
            </a:r>
            <a:endParaRPr b="0" i="0" sz="1700" u="none" cap="none" strike="noStrike"/>
          </a:p>
        </p:txBody>
      </p:sp>
      <p:sp>
        <p:nvSpPr>
          <p:cNvPr id="169" name="Google Shape;169;p20"/>
          <p:cNvSpPr/>
          <p:nvPr/>
        </p:nvSpPr>
        <p:spPr>
          <a:xfrm>
            <a:off x="1627227" y="2406253"/>
            <a:ext cx="6902648" cy="24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50"/>
              <a:buFont typeface="Funnel Sans"/>
              <a:buNone/>
            </a:pPr>
            <a:r>
              <a:rPr b="1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→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Conversational queries in natural language</a:t>
            </a:r>
            <a:endParaRPr b="0" i="0" sz="1350" u="none" cap="none" strike="noStrike"/>
          </a:p>
        </p:txBody>
      </p:sp>
      <p:pic>
        <p:nvPicPr>
          <p:cNvPr descr="preencoded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124" y="2928223"/>
            <a:ext cx="877372" cy="105287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1627227" y="3103602"/>
            <a:ext cx="2193488" cy="274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Manual Filtering</a:t>
            </a:r>
            <a:endParaRPr b="0" i="0" sz="170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1627227" y="3459123"/>
            <a:ext cx="6902648" cy="24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50"/>
              <a:buFont typeface="Funnel Sans"/>
              <a:buNone/>
            </a:pPr>
            <a:r>
              <a:rPr b="1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→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Instant automated insights</a:t>
            </a:r>
            <a:endParaRPr b="0" i="0" sz="1350" u="none" cap="none" strike="noStrike"/>
          </a:p>
        </p:txBody>
      </p:sp>
      <p:pic>
        <p:nvPicPr>
          <p:cNvPr descr="preencoded.png" id="173" name="Google Shape;17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124" y="3981093"/>
            <a:ext cx="877372" cy="105287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1627227" y="4156472"/>
            <a:ext cx="2194441" cy="274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Analyst Dependency</a:t>
            </a:r>
            <a:endParaRPr b="0" i="0" sz="1700" u="none" cap="none" strike="noStrike"/>
          </a:p>
        </p:txBody>
      </p:sp>
      <p:sp>
        <p:nvSpPr>
          <p:cNvPr id="175" name="Google Shape;175;p20"/>
          <p:cNvSpPr/>
          <p:nvPr/>
        </p:nvSpPr>
        <p:spPr>
          <a:xfrm>
            <a:off x="1627227" y="4511993"/>
            <a:ext cx="6902648" cy="24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50"/>
              <a:buFont typeface="Funnel Sans"/>
              <a:buNone/>
            </a:pPr>
            <a:r>
              <a:rPr b="1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→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True self-service analytics</a:t>
            </a:r>
            <a:endParaRPr b="0" i="0" sz="135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614124" y="5237559"/>
            <a:ext cx="7915751" cy="22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750"/>
              <a:buFont typeface="Mona Sans"/>
              <a:buNone/>
            </a:pPr>
            <a:r>
              <a:rPr b="0" i="0" lang="en-US" sz="47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Ask your business questions like you ask ChatGPT.</a:t>
            </a:r>
            <a:endParaRPr b="0" i="0" sz="4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793790" y="165532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Feature Roadmap</a:t>
            </a:r>
            <a:endParaRPr b="0" i="0" sz="4450" u="none" cap="none" strike="noStrike"/>
          </a:p>
        </p:txBody>
      </p:sp>
      <p:sp>
        <p:nvSpPr>
          <p:cNvPr id="183" name="Google Shape;183;p21"/>
          <p:cNvSpPr/>
          <p:nvPr/>
        </p:nvSpPr>
        <p:spPr>
          <a:xfrm>
            <a:off x="1133951" y="3724989"/>
            <a:ext cx="3856077" cy="226814"/>
          </a:xfrm>
          <a:prstGeom prst="roundRect">
            <a:avLst>
              <a:gd fmla="val 42003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793790" y="3498116"/>
            <a:ext cx="680442" cy="680442"/>
          </a:xfrm>
          <a:prstGeom prst="roundRect">
            <a:avLst>
              <a:gd fmla="val 6719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" y="3668256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1020604" y="44054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AI Insight Engine</a:t>
            </a:r>
            <a:endParaRPr b="0" i="0" sz="2200" u="none" cap="none" strike="noStrike"/>
          </a:p>
        </p:txBody>
      </p:sp>
      <p:sp>
        <p:nvSpPr>
          <p:cNvPr id="187" name="Google Shape;187;p21"/>
          <p:cNvSpPr/>
          <p:nvPr/>
        </p:nvSpPr>
        <p:spPr>
          <a:xfrm>
            <a:off x="1020604" y="4895850"/>
            <a:ext cx="37427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Automatically detects trends, anomalies, and patterns without predefined queries. Proactive alerts on important changes.</a:t>
            </a:r>
            <a:endParaRPr b="0" i="0" sz="1750" u="none" cap="none" strike="noStrike"/>
          </a:p>
        </p:txBody>
      </p:sp>
      <p:sp>
        <p:nvSpPr>
          <p:cNvPr id="188" name="Google Shape;188;p21"/>
          <p:cNvSpPr/>
          <p:nvPr/>
        </p:nvSpPr>
        <p:spPr>
          <a:xfrm>
            <a:off x="5557123" y="3384709"/>
            <a:ext cx="3856077" cy="226814"/>
          </a:xfrm>
          <a:prstGeom prst="roundRect">
            <a:avLst>
              <a:gd fmla="val 42003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216962" y="3157835"/>
            <a:ext cx="680442" cy="680442"/>
          </a:xfrm>
          <a:prstGeom prst="roundRect">
            <a:avLst>
              <a:gd fmla="val 6719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7102" y="3327975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5443776" y="4065151"/>
            <a:ext cx="295477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Voice Query Interface</a:t>
            </a:r>
            <a:endParaRPr b="0" i="0" sz="2200" u="none" cap="none" strike="noStrike"/>
          </a:p>
        </p:txBody>
      </p:sp>
      <p:sp>
        <p:nvSpPr>
          <p:cNvPr id="192" name="Google Shape;192;p21"/>
          <p:cNvSpPr/>
          <p:nvPr/>
        </p:nvSpPr>
        <p:spPr>
          <a:xfrm>
            <a:off x="5443776" y="4555569"/>
            <a:ext cx="37427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Ask questions using voice commands for hands-free data exploration during meetings or on-the-go analysis.</a:t>
            </a:r>
            <a:endParaRPr b="0" i="0" sz="1750" u="none" cap="none" strike="noStrike"/>
          </a:p>
        </p:txBody>
      </p:sp>
      <p:sp>
        <p:nvSpPr>
          <p:cNvPr id="193" name="Google Shape;193;p21"/>
          <p:cNvSpPr/>
          <p:nvPr/>
        </p:nvSpPr>
        <p:spPr>
          <a:xfrm>
            <a:off x="9980295" y="3044547"/>
            <a:ext cx="3856077" cy="226814"/>
          </a:xfrm>
          <a:prstGeom prst="roundRect">
            <a:avLst>
              <a:gd fmla="val 42003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9640133" y="2817674"/>
            <a:ext cx="680442" cy="680442"/>
          </a:xfrm>
          <a:prstGeom prst="roundRect">
            <a:avLst>
              <a:gd fmla="val 6719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274" y="298781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9866948" y="3724989"/>
            <a:ext cx="35942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Slack &amp; Teams Integration</a:t>
            </a:r>
            <a:endParaRPr b="0" i="0" sz="2200" u="none" cap="none" strike="noStrike"/>
          </a:p>
        </p:txBody>
      </p:sp>
      <p:sp>
        <p:nvSpPr>
          <p:cNvPr id="197" name="Google Shape;197;p21"/>
          <p:cNvSpPr/>
          <p:nvPr/>
        </p:nvSpPr>
        <p:spPr>
          <a:xfrm>
            <a:off x="9866948" y="4215408"/>
            <a:ext cx="37427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Query company data directly within collaboration tools without switching contexts or opening additional applications.</a:t>
            </a:r>
            <a:endParaRPr b="0" i="0" sz="175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12871200" y="7759750"/>
            <a:ext cx="1651500" cy="363000"/>
          </a:xfrm>
          <a:prstGeom prst="rect">
            <a:avLst/>
          </a:prstGeom>
          <a:solidFill>
            <a:srgbClr val="FEFEFE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785813" y="638056"/>
            <a:ext cx="7679293" cy="70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00"/>
              <a:buFont typeface="Mona Sans"/>
              <a:buNone/>
            </a:pPr>
            <a:r>
              <a:rPr b="0" i="0" lang="en-US" sz="44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MVP &amp; Real-World Use Case</a:t>
            </a:r>
            <a:endParaRPr b="0" i="0" sz="4400" u="none" cap="none" strike="noStrike"/>
          </a:p>
        </p:txBody>
      </p:sp>
      <p:sp>
        <p:nvSpPr>
          <p:cNvPr id="205" name="Google Shape;205;p22"/>
          <p:cNvSpPr/>
          <p:nvPr/>
        </p:nvSpPr>
        <p:spPr>
          <a:xfrm>
            <a:off x="785813" y="1428512"/>
            <a:ext cx="3368040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650"/>
              <a:buFont typeface="Mona Sans"/>
              <a:buNone/>
            </a:pPr>
            <a:r>
              <a:rPr b="0" i="0" lang="en-US" sz="26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The Magic Moment</a:t>
            </a:r>
            <a:endParaRPr b="0" i="0" sz="2650" u="none" cap="none" strike="noStrike"/>
          </a:p>
        </p:txBody>
      </p:sp>
      <p:sp>
        <p:nvSpPr>
          <p:cNvPr id="206" name="Google Shape;206;p22"/>
          <p:cNvSpPr/>
          <p:nvPr/>
        </p:nvSpPr>
        <p:spPr>
          <a:xfrm>
            <a:off x="785813" y="2182892"/>
            <a:ext cx="13058775" cy="714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User uploads a sales dataset (CSV) and asks a simple question in natural language. The system instantly returns a clear answer with supporting charts and insights.</a:t>
            </a:r>
            <a:endParaRPr b="0" i="0" sz="1750" u="none" cap="none" strike="noStrike"/>
          </a:p>
        </p:txBody>
      </p:sp>
      <p:sp>
        <p:nvSpPr>
          <p:cNvPr id="207" name="Google Shape;207;p22"/>
          <p:cNvSpPr/>
          <p:nvPr/>
        </p:nvSpPr>
        <p:spPr>
          <a:xfrm>
            <a:off x="1122521" y="3397806"/>
            <a:ext cx="12722066" cy="357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"Which region generated the highest revenue?"</a:t>
            </a:r>
            <a:endParaRPr b="0" i="0" sz="1750" u="none" cap="none" strike="noStrike"/>
          </a:p>
        </p:txBody>
      </p:sp>
      <p:sp>
        <p:nvSpPr>
          <p:cNvPr id="208" name="Google Shape;208;p22"/>
          <p:cNvSpPr/>
          <p:nvPr/>
        </p:nvSpPr>
        <p:spPr>
          <a:xfrm>
            <a:off x="785813" y="3147774"/>
            <a:ext cx="30480" cy="857488"/>
          </a:xfrm>
          <a:prstGeom prst="rect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785813" y="4367507"/>
            <a:ext cx="13058775" cy="35600"/>
          </a:xfrm>
          <a:prstGeom prst="rect">
            <a:avLst/>
          </a:prstGeom>
          <a:solidFill>
            <a:srgbClr val="52586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785813" y="4736425"/>
            <a:ext cx="3368040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650"/>
              <a:buFont typeface="Mona Sans"/>
              <a:buNone/>
            </a:pPr>
            <a:r>
              <a:rPr b="0" i="0" lang="en-US" sz="26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Lemon Tree Hotels</a:t>
            </a:r>
            <a:endParaRPr b="0" i="0" sz="2650" u="none" cap="none" strike="noStrike"/>
          </a:p>
        </p:txBody>
      </p:sp>
      <p:sp>
        <p:nvSpPr>
          <p:cNvPr id="211" name="Google Shape;211;p22"/>
          <p:cNvSpPr/>
          <p:nvPr/>
        </p:nvSpPr>
        <p:spPr>
          <a:xfrm>
            <a:off x="785813" y="5712976"/>
            <a:ext cx="2806660" cy="350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Use Cases</a:t>
            </a:r>
            <a:endParaRPr b="0" i="0" sz="2200" u="none" cap="none" strike="noStrike"/>
          </a:p>
        </p:txBody>
      </p:sp>
      <p:sp>
        <p:nvSpPr>
          <p:cNvPr id="212" name="Google Shape;212;p22"/>
          <p:cNvSpPr/>
          <p:nvPr/>
        </p:nvSpPr>
        <p:spPr>
          <a:xfrm>
            <a:off x="785813" y="6285905"/>
            <a:ext cx="6255544" cy="1227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Hotel occupancy trends by location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Revenue analysis by city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Underperforming location identification</a:t>
            </a:r>
            <a:endParaRPr b="0" i="0" sz="1750" u="none" cap="none" strike="noStrike"/>
          </a:p>
        </p:txBody>
      </p:sp>
      <p:sp>
        <p:nvSpPr>
          <p:cNvPr id="213" name="Google Shape;213;p22"/>
          <p:cNvSpPr/>
          <p:nvPr/>
        </p:nvSpPr>
        <p:spPr>
          <a:xfrm>
            <a:off x="7596664" y="5712976"/>
            <a:ext cx="2806660" cy="350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Impact</a:t>
            </a:r>
            <a:endParaRPr b="0" i="0" sz="2200" u="none" cap="none" strike="noStrike"/>
          </a:p>
        </p:txBody>
      </p:sp>
      <p:sp>
        <p:nvSpPr>
          <p:cNvPr id="214" name="Google Shape;214;p22"/>
          <p:cNvSpPr/>
          <p:nvPr/>
        </p:nvSpPr>
        <p:spPr>
          <a:xfrm>
            <a:off x="7596664" y="6285905"/>
            <a:ext cx="6255544" cy="107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Management can analyze operational data directly through conversation, enabling faster strategic decisions about property performance and resource allocation.</a:t>
            </a:r>
            <a:endParaRPr b="0" i="0" sz="1750" u="none" cap="none" strike="noStrike"/>
          </a:p>
        </p:txBody>
      </p:sp>
      <p:sp>
        <p:nvSpPr>
          <p:cNvPr id="215" name="Google Shape;215;p22"/>
          <p:cNvSpPr/>
          <p:nvPr/>
        </p:nvSpPr>
        <p:spPr>
          <a:xfrm>
            <a:off x="12871200" y="7759750"/>
            <a:ext cx="1651500" cy="363000"/>
          </a:xfrm>
          <a:prstGeom prst="rect">
            <a:avLst/>
          </a:prstGeom>
          <a:solidFill>
            <a:srgbClr val="FEFEFE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